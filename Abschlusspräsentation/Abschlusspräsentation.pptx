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A4FA07-4185-4443-A060-C3CECF58D0AB}">
  <a:tblStyle styleId="{43A4FA07-4185-4443-A060-C3CECF58D0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a57ae9ff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a9a57ae9ff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a9a57ae9ff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a0e803714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aa0e80371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aa0e803714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91a796830_1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91a796830_1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b91a796830_1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91a796830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b91a796830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b91a796830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91a796830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b91a796830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b91a796830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91a796830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b91a796830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b91a796830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91a796830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b91a796830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b91a796830_1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91a796830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b91a796830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b91a796830_1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91a796830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b91a796830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b91a796830_1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91a796830_1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b91a796830_1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b91a796830_1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91a796830_1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b91a796830_1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b91a796830_1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91a796830_1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b91a796830_1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b91a796830_1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91a796830_1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b91a796830_1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b91a796830_1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91a796830_1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b91a796830_1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b91a796830_1_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2061598" y="1047400"/>
            <a:ext cx="50208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38BDF8"/>
                </a:solidFill>
              </a:rPr>
              <a:t>Parallel Programming </a:t>
            </a:r>
            <a:r>
              <a:rPr b="1" i="0" lang="en-US" sz="4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WebGPU vs GO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-957474" y="4769200"/>
            <a:ext cx="5482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Atakan Sentürk 21.01.2025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609600" y="609600"/>
            <a:ext cx="8083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Projekt - N-Body Simulation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923050" y="1313400"/>
            <a:ext cx="7620000" cy="26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-US" sz="1350">
                <a:solidFill>
                  <a:schemeClr val="dk1"/>
                </a:solidFill>
              </a:rPr>
              <a:t>Simulation von tausenden Partikeln, die miteinander interagieren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-US" sz="1350">
                <a:solidFill>
                  <a:schemeClr val="dk1"/>
                </a:solidFill>
              </a:rPr>
              <a:t>Jedes Partikel wird beeinflusst durch: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-US" sz="1350">
                <a:solidFill>
                  <a:schemeClr val="dk1"/>
                </a:solidFill>
              </a:rPr>
              <a:t>  Schwerkraft (konstante Kraft nach unten)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-US" sz="1350">
                <a:solidFill>
                  <a:schemeClr val="dk1"/>
                </a:solidFill>
              </a:rPr>
              <a:t>  Druckkräfte (Partikel stoßen sich ab, wenn sie nah beieinander sind)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-US" sz="1350">
                <a:solidFill>
                  <a:schemeClr val="dk1"/>
                </a:solidFill>
              </a:rPr>
              <a:t>  Viskosität (Geschwindigkeitsausgleich zwischen Nachbarn)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-US" sz="1350">
                <a:solidFill>
                  <a:schemeClr val="dk1"/>
                </a:solidFill>
              </a:rPr>
              <a:t>  Randkollisionen 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-US" sz="1350">
                <a:solidFill>
                  <a:schemeClr val="dk1"/>
                </a:solidFill>
              </a:rPr>
              <a:t>Berechnungskomplexität: O(n²) - jedes Partikel prüft jedes andere Partikel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-US" sz="1350">
                <a:solidFill>
                  <a:schemeClr val="dk1"/>
                </a:solidFill>
              </a:rPr>
              <a:t>10.000 Partikel = 100 Millionen Interaktionen pro Frame</a:t>
            </a:r>
            <a:endParaRPr sz="13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Was ist WebGPU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465525" y="1280150"/>
            <a:ext cx="8227500" cy="3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Nachfolger von WebGL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Low-Level GPU-API für das Web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Zwei Hauptfähigkeiten: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US" sz="1800">
                <a:solidFill>
                  <a:schemeClr val="dk2"/>
                </a:solidFill>
              </a:rPr>
              <a:t>Rendering - Grafiken zeichnen (wie WebGL)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US" sz="1800">
                <a:solidFill>
                  <a:schemeClr val="dk2"/>
                </a:solidFill>
              </a:rPr>
              <a:t>Compute - Allgemeine GPU-Berechnungen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Verwendet WGSL (WebGPU Shading Language)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Funktioniert in Chrome, Edge, Firefox (hinter Flag)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Was sind Compute Shader?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914400" y="1247775"/>
            <a:ext cx="7620000" cy="3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-US" sz="1100">
                <a:solidFill>
                  <a:schemeClr val="dk1"/>
                </a:solidFill>
              </a:rPr>
              <a:t>Ein Compute Shader ist ein spezielles GPU-Programm, das allgemeine Berechnungen ausführt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Führt den selben Code auf tausenden Datenpunkten aus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Schlüsselkonzepte: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Workgroup: Eine Gruppe von Threads die zusammen laufen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Thread: Eine Ausführung eines Shaders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Verwendet für: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ML/AI	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Simulationen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parallele Berechnungen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598525" y="210575"/>
            <a:ext cx="80943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Der Compute-Shader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525" y="-166250"/>
            <a:ext cx="8001301" cy="61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69007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/>
          <p:nvPr/>
        </p:nvSpPr>
        <p:spPr>
          <a:xfrm>
            <a:off x="609600" y="609600"/>
            <a:ext cx="8083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Go Parallel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9050" y="309538"/>
            <a:ext cx="6028201" cy="50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609600" y="609600"/>
            <a:ext cx="8083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Physik Parameter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914400" y="1247775"/>
            <a:ext cx="7620000" cy="3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38BDF8"/>
              </a:solidFill>
            </a:endParaRPr>
          </a:p>
        </p:txBody>
      </p:sp>
      <p:graphicFrame>
        <p:nvGraphicFramePr>
          <p:cNvPr id="110" name="Google Shape;110;p21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{43A4FA07-4185-4443-A060-C3CECF58D0AB}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Parameter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Wert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Beschreibung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Glättungsradius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Interaktionsreichweite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Druckkraft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500*q^2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Abstoßung zwischen Partikeln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Viskosität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0.02 * q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Leichte </a:t>
                      </a:r>
                      <a:r>
                        <a:rPr lang="en-US"/>
                        <a:t>Geschwindigkeits Glättung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Schwerkraft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Schwerkraft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Abprall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Energieerhalt bei </a:t>
                      </a:r>
                      <a:r>
                        <a:rPr lang="en-US"/>
                        <a:t>Wand Kollision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Dämpfung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0.998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Leichter </a:t>
                      </a:r>
                      <a:r>
                        <a:rPr lang="en-US"/>
                        <a:t>Luftwiderstand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/>
          <p:nvPr/>
        </p:nvSpPr>
        <p:spPr>
          <a:xfrm>
            <a:off x="609600" y="609600"/>
            <a:ext cx="8083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Smoothed Particle Hydrodynamics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2"/>
          <p:cNvSpPr/>
          <p:nvPr/>
        </p:nvSpPr>
        <p:spPr>
          <a:xfrm>
            <a:off x="914400" y="1247775"/>
            <a:ext cx="7620000" cy="3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-US" sz="1350">
                <a:solidFill>
                  <a:schemeClr val="dk1"/>
                </a:solidFill>
              </a:rPr>
              <a:t>Alte Formel: Kraft = 100 / Distanz²</a:t>
            </a:r>
            <a:endParaRPr b="1"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b="1" lang="en-US" sz="1350">
                <a:solidFill>
                  <a:schemeClr val="dk1"/>
                </a:solidFill>
              </a:rPr>
              <a:t>  Distanz = 1.0   → Kraft = 100</a:t>
            </a:r>
            <a:endParaRPr b="1"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b="1" lang="en-US" sz="1350">
                <a:solidFill>
                  <a:schemeClr val="dk1"/>
                </a:solidFill>
              </a:rPr>
              <a:t>  Distanz = 0.1   → Kraft = 10.000</a:t>
            </a:r>
            <a:endParaRPr b="1"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b="1" lang="en-US" sz="1350">
                <a:solidFill>
                  <a:schemeClr val="dk1"/>
                </a:solidFill>
              </a:rPr>
              <a:t>  Distanz = 0.01  → Kraft = 1.000.000  </a:t>
            </a:r>
            <a:endParaRPr b="1" sz="135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8BDF8"/>
                </a:solidFill>
              </a:rPr>
              <a:t>Lösung: </a:t>
            </a:r>
            <a:endParaRPr b="1" sz="1350">
              <a:solidFill>
                <a:srgbClr val="38BDF8"/>
              </a:solidFill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-US" sz="1350">
                <a:solidFill>
                  <a:schemeClr val="dk1"/>
                </a:solidFill>
              </a:rPr>
              <a:t>q = 1.0 - Distanz / Glättungsradius </a:t>
            </a:r>
            <a:endParaRPr b="1" sz="1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b="1" lang="en-US" sz="1350">
                <a:solidFill>
                  <a:schemeClr val="dk1"/>
                </a:solidFill>
              </a:rPr>
              <a:t>Neue Formel: Kraft = 500 × q²</a:t>
            </a:r>
            <a:endParaRPr b="1"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b="1" lang="en-US" sz="1350">
                <a:solidFill>
                  <a:schemeClr val="dk1"/>
                </a:solidFill>
              </a:rPr>
              <a:t>Immer begrenzt zwischen 0 und 500</a:t>
            </a:r>
            <a:endParaRPr b="1"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b="1" lang="en-US" sz="1350">
                <a:solidFill>
                  <a:schemeClr val="dk1"/>
                </a:solidFill>
              </a:rPr>
              <a:t>Keine Explosion bei Überlappung</a:t>
            </a:r>
            <a:endParaRPr b="1" sz="13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38BDF8"/>
              </a:solidFill>
            </a:endParaRPr>
          </a:p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38BDF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/>
          <p:nvPr/>
        </p:nvSpPr>
        <p:spPr>
          <a:xfrm>
            <a:off x="609600" y="609600"/>
            <a:ext cx="8083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Benchmark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23" title="Erreichte Punkt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275" y="0"/>
            <a:ext cx="807186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/>
          <p:nvPr/>
        </p:nvSpPr>
        <p:spPr>
          <a:xfrm>
            <a:off x="609600" y="609600"/>
            <a:ext cx="8083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Benchmark Time per frame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4"/>
          <p:cNvSpPr/>
          <p:nvPr/>
        </p:nvSpPr>
        <p:spPr>
          <a:xfrm>
            <a:off x="914400" y="1247775"/>
            <a:ext cx="7620000" cy="3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38BDF8"/>
              </a:solidFill>
            </a:endParaRPr>
          </a:p>
        </p:txBody>
      </p:sp>
      <p:graphicFrame>
        <p:nvGraphicFramePr>
          <p:cNvPr id="132" name="Google Shape;132;p24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{43A4FA07-4185-4443-A060-C3CECF58D0AB}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Partikel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Go Single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Go 12 Cores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WebGPU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GPU vs CPU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1.000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1,12 ms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0,25 ms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0,70 ms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CPU 2.8x schneller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10.000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92,2 ms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14,0 ms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1,97 ms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GPU 7.1x schneller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50.000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2.393 ms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337,6 ms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32,0 ms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GPU 10.5x schneller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100.000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10.700 ms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1376 ms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120.8 ms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GPU 11.4x schneller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/>
          <p:nvPr/>
        </p:nvSpPr>
        <p:spPr>
          <a:xfrm>
            <a:off x="609600" y="609600"/>
            <a:ext cx="8083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Benchmark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25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{43A4FA07-4185-4443-A060-C3CECF58D0AB}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Partikel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Go Single vs GPU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10.000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GPU 46,8x schneller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50.000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GPU 74,8x schneller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100.000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GPU 88,6x schneller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/>
          <p:nvPr/>
        </p:nvSpPr>
        <p:spPr>
          <a:xfrm>
            <a:off x="609600" y="609600"/>
            <a:ext cx="8083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Warum gewinnt die GPU?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6"/>
          <p:cNvSpPr/>
          <p:nvPr/>
        </p:nvSpPr>
        <p:spPr>
          <a:xfrm>
            <a:off x="914400" y="1247775"/>
            <a:ext cx="7620000" cy="3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-US" sz="1350">
                <a:solidFill>
                  <a:schemeClr val="dk1"/>
                </a:solidFill>
              </a:rPr>
              <a:t>Parallelität: tausende Threads vs 12 Goroutines mit </a:t>
            </a:r>
            <a:endParaRPr b="1"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-US" sz="1350">
                <a:solidFill>
                  <a:schemeClr val="dk1"/>
                </a:solidFill>
              </a:rPr>
              <a:t>Viele einfache Rechenheiten die unabhängig voneinander berechnen</a:t>
            </a:r>
            <a:endParaRPr b="1"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-US" sz="1350">
                <a:solidFill>
                  <a:schemeClr val="dk1"/>
                </a:solidFill>
              </a:rPr>
              <a:t>CPU hat wenige komplexe Kerne</a:t>
            </a:r>
            <a:endParaRPr b="1"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-US" sz="1350">
                <a:solidFill>
                  <a:schemeClr val="dk1"/>
                </a:solidFill>
              </a:rPr>
              <a:t>GPU hat 1792 Shader Cores</a:t>
            </a:r>
            <a:endParaRPr b="1"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-US" sz="1350">
                <a:solidFill>
                  <a:schemeClr val="dk1"/>
                </a:solidFill>
              </a:rPr>
              <a:t>CPU hat 12 Cores</a:t>
            </a:r>
            <a:endParaRPr b="1"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/>
          <p:nvPr/>
        </p:nvSpPr>
        <p:spPr>
          <a:xfrm>
            <a:off x="609600" y="609600"/>
            <a:ext cx="8083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Benchmark FPS</a:t>
            </a:r>
            <a:endParaRPr b="1" sz="2700">
              <a:solidFill>
                <a:srgbClr val="38BDF8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t/>
            </a:r>
            <a:endParaRPr b="1" sz="2700">
              <a:solidFill>
                <a:srgbClr val="38BDF8"/>
              </a:solidFill>
            </a:endParaRPr>
          </a:p>
        </p:txBody>
      </p:sp>
      <p:sp>
        <p:nvSpPr>
          <p:cNvPr id="153" name="Google Shape;153;p27"/>
          <p:cNvSpPr/>
          <p:nvPr/>
        </p:nvSpPr>
        <p:spPr>
          <a:xfrm>
            <a:off x="914400" y="1247775"/>
            <a:ext cx="7620000" cy="3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38BDF8"/>
              </a:solidFill>
            </a:endParaRPr>
          </a:p>
        </p:txBody>
      </p:sp>
      <p:graphicFrame>
        <p:nvGraphicFramePr>
          <p:cNvPr id="154" name="Google Shape;154;p27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{43A4FA07-4185-4443-A060-C3CECF58D0AB}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Partikel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Go 12 Core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GPU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Faktor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1.000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4.000 fps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1.430 fps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CPU 2,8x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10.000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71 fps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507 fps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GPU 7,1x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50.000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 fps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 fps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GPU 10,5x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100.000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0,7 fps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8,3 fps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GPU 11,4x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sp>
        <p:nvSpPr>
          <p:cNvPr id="155" name="Google Shape;155;p27"/>
          <p:cNvSpPr txBox="1"/>
          <p:nvPr/>
        </p:nvSpPr>
        <p:spPr>
          <a:xfrm>
            <a:off x="648400" y="3923600"/>
            <a:ext cx="78861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60 FPS: 11.000 Go &amp; 20.000 WebGPU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/>
          <p:nvPr/>
        </p:nvSpPr>
        <p:spPr>
          <a:xfrm>
            <a:off x="609600" y="609600"/>
            <a:ext cx="8083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Wann welcher Ansatz?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8"/>
          <p:cNvSpPr/>
          <p:nvPr/>
        </p:nvSpPr>
        <p:spPr>
          <a:xfrm>
            <a:off x="914400" y="1247775"/>
            <a:ext cx="7620000" cy="3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-US" sz="1350">
                <a:solidFill>
                  <a:schemeClr val="dk1"/>
                </a:solidFill>
              </a:rPr>
              <a:t>GPU:</a:t>
            </a:r>
            <a:endParaRPr b="1"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b="1" lang="en-US" sz="1350">
                <a:solidFill>
                  <a:schemeClr val="dk1"/>
                </a:solidFill>
              </a:rPr>
              <a:t>Gleiche Operationen auf großen Datensätzen</a:t>
            </a:r>
            <a:endParaRPr b="1"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b="1" lang="en-US" sz="1350">
                <a:solidFill>
                  <a:schemeClr val="dk1"/>
                </a:solidFill>
              </a:rPr>
              <a:t>Datenparallele Probleme (Matrizen, Partikel, Pixel)</a:t>
            </a:r>
            <a:endParaRPr b="1" sz="1350">
              <a:solidFill>
                <a:schemeClr val="dk1"/>
              </a:solidFill>
            </a:endParaRPr>
          </a:p>
          <a:p>
            <a:pPr indent="-314325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■"/>
            </a:pPr>
            <a:r>
              <a:rPr b="1" lang="en-US" sz="1350">
                <a:solidFill>
                  <a:schemeClr val="dk1"/>
                </a:solidFill>
              </a:rPr>
              <a:t>hat viele einfache Recheneinheiten</a:t>
            </a:r>
            <a:endParaRPr b="1"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-US" sz="1350">
                <a:solidFill>
                  <a:schemeClr val="dk1"/>
                </a:solidFill>
              </a:rPr>
              <a:t>CPU:</a:t>
            </a:r>
            <a:endParaRPr b="1"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b="1" lang="en-US" sz="1350">
                <a:solidFill>
                  <a:schemeClr val="dk1"/>
                </a:solidFill>
              </a:rPr>
              <a:t>Kleine Datensätze</a:t>
            </a:r>
            <a:endParaRPr b="1"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b="1" lang="en-US" sz="1350">
                <a:solidFill>
                  <a:schemeClr val="dk1"/>
                </a:solidFill>
              </a:rPr>
              <a:t>Komplexe Logik</a:t>
            </a:r>
            <a:endParaRPr b="1"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b="1" lang="en-US" sz="1350">
                <a:solidFill>
                  <a:schemeClr val="dk1"/>
                </a:solidFill>
              </a:rPr>
              <a:t>Vielfältige Aufgabentypen</a:t>
            </a:r>
            <a:endParaRPr b="1" sz="1350">
              <a:solidFill>
                <a:schemeClr val="dk1"/>
              </a:solidFill>
            </a:endParaRPr>
          </a:p>
          <a:p>
            <a:pPr indent="-314325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■"/>
            </a:pPr>
            <a:r>
              <a:rPr b="1" lang="en-US" sz="1350">
                <a:solidFill>
                  <a:schemeClr val="dk1"/>
                </a:solidFill>
              </a:rPr>
              <a:t>wenige komplexe Kerne</a:t>
            </a:r>
            <a:endParaRPr b="1"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/>
          <p:nvPr/>
        </p:nvSpPr>
        <p:spPr>
          <a:xfrm>
            <a:off x="609600" y="609600"/>
            <a:ext cx="8083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Erkentnisse:	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9"/>
          <p:cNvSpPr/>
          <p:nvPr/>
        </p:nvSpPr>
        <p:spPr>
          <a:xfrm>
            <a:off x="914400" y="1247775"/>
            <a:ext cx="7620000" cy="3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-US" sz="1350">
                <a:solidFill>
                  <a:schemeClr val="dk1"/>
                </a:solidFill>
              </a:rPr>
              <a:t>Compute Shader:</a:t>
            </a:r>
            <a:endParaRPr b="1"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b="1" lang="en-US" sz="1350">
                <a:solidFill>
                  <a:schemeClr val="dk1"/>
                </a:solidFill>
              </a:rPr>
              <a:t>Ermöglichen allgemeine GPU Berechnungen im Browser</a:t>
            </a:r>
            <a:endParaRPr b="1"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-US" sz="1350">
                <a:solidFill>
                  <a:schemeClr val="dk1"/>
                </a:solidFill>
              </a:rPr>
              <a:t>WebGPU</a:t>
            </a:r>
            <a:endParaRPr b="1" sz="1350">
              <a:solidFill>
                <a:schemeClr val="dk1"/>
              </a:solidFill>
            </a:endParaRPr>
          </a:p>
          <a:p>
            <a:pPr indent="-3143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b="1" lang="en-US" sz="1350">
                <a:solidFill>
                  <a:schemeClr val="dk1"/>
                </a:solidFill>
              </a:rPr>
              <a:t>Bietet modernen, Low-Level Zugriff auf die GPU</a:t>
            </a:r>
            <a:endParaRPr b="1"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-US" sz="1350">
                <a:solidFill>
                  <a:schemeClr val="dk1"/>
                </a:solidFill>
              </a:rPr>
              <a:t>SPH Physik</a:t>
            </a:r>
            <a:endParaRPr b="1"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-US" sz="1350">
                <a:solidFill>
                  <a:schemeClr val="dk1"/>
                </a:solidFill>
              </a:rPr>
              <a:t>Bei geringen Datenmengen CPU &gt; GPU</a:t>
            </a:r>
            <a:endParaRPr b="1"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-US" sz="1350">
                <a:solidFill>
                  <a:schemeClr val="dk1"/>
                </a:solidFill>
              </a:rPr>
              <a:t>Bei hohen Datenmengen GPU &gt; CPU</a:t>
            </a:r>
            <a:endParaRPr b="1"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/>
          <p:nvPr/>
        </p:nvSpPr>
        <p:spPr>
          <a:xfrm>
            <a:off x="3882049" y="1890713"/>
            <a:ext cx="13797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38BDF8"/>
                </a:solidFill>
              </a:rPr>
              <a:t>Demo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0"/>
          <p:cNvSpPr/>
          <p:nvPr/>
        </p:nvSpPr>
        <p:spPr>
          <a:xfrm>
            <a:off x="3371530" y="2528888"/>
            <a:ext cx="2400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/>
          <p:nvPr/>
        </p:nvSpPr>
        <p:spPr>
          <a:xfrm>
            <a:off x="3882049" y="1890713"/>
            <a:ext cx="137975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Fragen?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1"/>
          <p:cNvSpPr/>
          <p:nvPr/>
        </p:nvSpPr>
        <p:spPr>
          <a:xfrm>
            <a:off x="3371530" y="2528888"/>
            <a:ext cx="240079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