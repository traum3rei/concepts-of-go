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g3a9a57ae9ff_0_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" name="Google Shape;20;g3a9a57ae9ff_0_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g3a9a57ae9ff_0_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" name="Google Shape;2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" name="Google Shape;3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" name="Google Shape;5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" name="Google Shape;65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" name="Google Shape;72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a9a57ae9ff_0_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" name="Google Shape;79;g3a9a57ae9ff_0_2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g3a9a57ae9ff_0_2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20617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3330389" y="1752600"/>
            <a:ext cx="2483221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4500"/>
              <a:buFont typeface="Arial"/>
              <a:buNone/>
            </a:pPr>
            <a:r>
              <a:rPr b="1" i="0" lang="en-US" sz="4500" u="none" cap="none" strike="noStrik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WebGPU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2500323" y="2590800"/>
            <a:ext cx="4143205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86666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BD5E1"/>
                </a:solidFill>
                <a:latin typeface="Arial"/>
                <a:ea typeface="Arial"/>
                <a:cs typeface="Arial"/>
                <a:sym typeface="Arial"/>
              </a:rPr>
              <a:t>Moderne GPU-Berechnung für das Web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/>
          <p:nvPr/>
        </p:nvSpPr>
        <p:spPr>
          <a:xfrm>
            <a:off x="609600" y="609600"/>
            <a:ext cx="8083200" cy="40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2700"/>
              <a:buFont typeface="Arial"/>
              <a:buNone/>
            </a:pPr>
            <a:r>
              <a:rPr b="1" lang="en-US" sz="2700">
                <a:solidFill>
                  <a:srgbClr val="38BDF8"/>
                </a:solidFill>
              </a:rPr>
              <a:t>Historie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914400" y="1247775"/>
            <a:ext cx="7620000" cy="31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24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350"/>
              <a:buFont typeface="Arial"/>
              <a:buChar char="•"/>
            </a:pPr>
            <a:r>
              <a:rPr lang="en-US" sz="1350">
                <a:solidFill>
                  <a:srgbClr val="CBD5E1"/>
                </a:solidFill>
              </a:rPr>
              <a:t>Nachfolger von WebGL</a:t>
            </a:r>
            <a:endParaRPr sz="1350">
              <a:solidFill>
                <a:srgbClr val="CBD5E1"/>
              </a:solidFill>
            </a:endParaRPr>
          </a:p>
          <a:p>
            <a:pPr indent="-342900" lvl="0" marL="342900" marR="0" rtl="0" algn="l">
              <a:lnSpc>
                <a:spcPct val="24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350"/>
              <a:buChar char="•"/>
            </a:pPr>
            <a:r>
              <a:rPr lang="en-US" sz="1350">
                <a:solidFill>
                  <a:srgbClr val="CBD5E1"/>
                </a:solidFill>
              </a:rPr>
              <a:t>WebGL -&gt; OpenGL </a:t>
            </a:r>
            <a:endParaRPr sz="1350">
              <a:solidFill>
                <a:srgbClr val="CBD5E1"/>
              </a:solidFill>
            </a:endParaRPr>
          </a:p>
          <a:p>
            <a:pPr indent="-342900" lvl="0" marL="342900" marR="0" rtl="0" algn="l">
              <a:lnSpc>
                <a:spcPct val="24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350"/>
              <a:buChar char="•"/>
            </a:pPr>
            <a:r>
              <a:rPr lang="en-US" sz="1350">
                <a:solidFill>
                  <a:srgbClr val="CBD5E1"/>
                </a:solidFill>
              </a:rPr>
              <a:t>WebGL war weniger performant </a:t>
            </a:r>
            <a:endParaRPr sz="1350">
              <a:solidFill>
                <a:srgbClr val="CBD5E1"/>
              </a:solidFill>
            </a:endParaRPr>
          </a:p>
          <a:p>
            <a:pPr indent="-342900" lvl="0" marL="342900" marR="0" rtl="0" algn="l">
              <a:lnSpc>
                <a:spcPct val="24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350"/>
              <a:buChar char="•"/>
            </a:pPr>
            <a:r>
              <a:rPr lang="en-US" sz="1350">
                <a:solidFill>
                  <a:srgbClr val="CBD5E1"/>
                </a:solidFill>
              </a:rPr>
              <a:t>Keine Unterstützung von Metal, Vulkan, Direct3D 12</a:t>
            </a:r>
            <a:endParaRPr sz="1350">
              <a:solidFill>
                <a:srgbClr val="CBD5E1"/>
              </a:solidFill>
            </a:endParaRPr>
          </a:p>
          <a:p>
            <a:pPr indent="-342900" lvl="0" marL="342900" marR="0" rtl="0" algn="l">
              <a:lnSpc>
                <a:spcPct val="24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350"/>
              <a:buChar char="•"/>
            </a:pPr>
            <a:r>
              <a:rPr lang="en-US" sz="1350">
                <a:solidFill>
                  <a:srgbClr val="CBD5E1"/>
                </a:solidFill>
              </a:rPr>
              <a:t>Konnte GPGPU nicht gut handeln</a:t>
            </a:r>
            <a:endParaRPr sz="1350">
              <a:solidFill>
                <a:srgbClr val="CBD5E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/>
          <p:nvPr/>
        </p:nvSpPr>
        <p:spPr>
          <a:xfrm>
            <a:off x="609600" y="609600"/>
            <a:ext cx="8083296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Was ist WebGPU?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5"/>
          <p:cNvSpPr/>
          <p:nvPr/>
        </p:nvSpPr>
        <p:spPr>
          <a:xfrm>
            <a:off x="914400" y="1247775"/>
            <a:ext cx="7620000" cy="2028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24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350"/>
              <a:buFont typeface="Arial"/>
              <a:buChar char="•"/>
            </a:pPr>
            <a:r>
              <a:rPr b="0" i="0" lang="en-US" sz="1350" u="none" cap="none" strike="noStrike">
                <a:solidFill>
                  <a:srgbClr val="CBD5E1"/>
                </a:solidFill>
                <a:latin typeface="Arial"/>
                <a:ea typeface="Arial"/>
                <a:cs typeface="Arial"/>
                <a:sym typeface="Arial"/>
              </a:rPr>
              <a:t>W3C-Standard-API für GPU-Zugriff </a:t>
            </a:r>
            <a:r>
              <a:rPr lang="en-US" sz="1350">
                <a:solidFill>
                  <a:srgbClr val="CBD5E1"/>
                </a:solidFill>
              </a:rPr>
              <a:t>übers Web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24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350"/>
              <a:buFont typeface="Arial"/>
              <a:buChar char="•"/>
            </a:pPr>
            <a:r>
              <a:rPr b="0" i="0" lang="en-US" sz="1350" u="none" cap="none" strike="noStrike">
                <a:solidFill>
                  <a:srgbClr val="CBD5E1"/>
                </a:solidFill>
                <a:latin typeface="Arial"/>
                <a:ea typeface="Arial"/>
                <a:cs typeface="Arial"/>
                <a:sym typeface="Arial"/>
              </a:rPr>
              <a:t>Abbildung auf Vulkan, Metal, Direct3D 12 auf nativer Ebene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24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350"/>
              <a:buFont typeface="Arial"/>
              <a:buChar char="•"/>
            </a:pPr>
            <a:r>
              <a:rPr b="0" i="0" lang="en-US" sz="1350" u="none" cap="none" strike="noStrike">
                <a:solidFill>
                  <a:srgbClr val="CBD5E1"/>
                </a:solidFill>
                <a:latin typeface="Arial"/>
                <a:ea typeface="Arial"/>
                <a:cs typeface="Arial"/>
                <a:sym typeface="Arial"/>
              </a:rPr>
              <a:t>Unterstützt Grafik-Rendering und Allzweck-Compute (GPGPU)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/>
          <p:nvPr/>
        </p:nvSpPr>
        <p:spPr>
          <a:xfrm>
            <a:off x="2943500" y="1713375"/>
            <a:ext cx="2489100" cy="1780800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152400" rotWithShape="0" algn="bl" dir="5400000" dist="762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6"/>
          <p:cNvSpPr/>
          <p:nvPr/>
        </p:nvSpPr>
        <p:spPr>
          <a:xfrm>
            <a:off x="6045125" y="1363275"/>
            <a:ext cx="2489100" cy="2481000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152400" rotWithShape="0" algn="bl" dir="5400000" dist="762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6"/>
          <p:cNvSpPr/>
          <p:nvPr/>
        </p:nvSpPr>
        <p:spPr>
          <a:xfrm>
            <a:off x="6273725" y="2214325"/>
            <a:ext cx="2031900" cy="483900"/>
          </a:xfrm>
          <a:prstGeom prst="rect">
            <a:avLst/>
          </a:prstGeom>
          <a:solidFill>
            <a:srgbClr val="0F172A"/>
          </a:solidFill>
          <a:ln>
            <a:noFill/>
          </a:ln>
          <a:effectLst>
            <a:outerShdw blurRad="152400" rotWithShape="0" algn="bl" dir="5400000" dist="762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Driver</a:t>
            </a:r>
            <a:endParaRPr b="1" i="0" sz="1800" u="none" cap="none" strike="noStrike">
              <a:solidFill>
                <a:srgbClr val="38BDF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6"/>
          <p:cNvSpPr/>
          <p:nvPr/>
        </p:nvSpPr>
        <p:spPr>
          <a:xfrm>
            <a:off x="609600" y="609600"/>
            <a:ext cx="8083296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Kern-Architektur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6"/>
          <p:cNvSpPr/>
          <p:nvPr/>
        </p:nvSpPr>
        <p:spPr>
          <a:xfrm>
            <a:off x="6273725" y="1551275"/>
            <a:ext cx="2031900" cy="483900"/>
          </a:xfrm>
          <a:prstGeom prst="rect">
            <a:avLst/>
          </a:prstGeom>
          <a:solidFill>
            <a:srgbClr val="0F172A"/>
          </a:solidFill>
          <a:ln>
            <a:noFill/>
          </a:ln>
          <a:effectLst>
            <a:outerShdw blurRad="152400" rotWithShape="0" algn="bl" dir="5400000" dist="762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Native GPU API</a:t>
            </a:r>
            <a:endParaRPr b="1" i="0" sz="1800" u="none" cap="none" strike="noStrike">
              <a:solidFill>
                <a:srgbClr val="38BDF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6"/>
          <p:cNvSpPr/>
          <p:nvPr/>
        </p:nvSpPr>
        <p:spPr>
          <a:xfrm>
            <a:off x="3172100" y="2719825"/>
            <a:ext cx="2031900" cy="483900"/>
          </a:xfrm>
          <a:prstGeom prst="rect">
            <a:avLst/>
          </a:prstGeom>
          <a:solidFill>
            <a:srgbClr val="0F172A"/>
          </a:solidFill>
          <a:ln>
            <a:noFill/>
          </a:ln>
          <a:effectLst>
            <a:outerShdw blurRad="152400" rotWithShape="0" algn="bl" dir="5400000" dist="762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Adapter</a:t>
            </a:r>
            <a:endParaRPr b="1" i="0" sz="1800" u="none" cap="none" strike="noStrike">
              <a:solidFill>
                <a:srgbClr val="38BDF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6"/>
          <p:cNvSpPr/>
          <p:nvPr/>
        </p:nvSpPr>
        <p:spPr>
          <a:xfrm>
            <a:off x="6273725" y="3144075"/>
            <a:ext cx="2031900" cy="483900"/>
          </a:xfrm>
          <a:prstGeom prst="rect">
            <a:avLst/>
          </a:prstGeom>
          <a:solidFill>
            <a:srgbClr val="0F172A"/>
          </a:solidFill>
          <a:ln>
            <a:noFill/>
          </a:ln>
          <a:effectLst>
            <a:outerShdw blurRad="152400" rotWithShape="0" algn="bl" dir="5400000" dist="762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GPU</a:t>
            </a:r>
            <a:endParaRPr b="1" i="0" sz="1800" u="none" cap="none" strike="noStrike">
              <a:solidFill>
                <a:srgbClr val="38BDF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6"/>
          <p:cNvSpPr/>
          <p:nvPr/>
        </p:nvSpPr>
        <p:spPr>
          <a:xfrm>
            <a:off x="3172125" y="1901375"/>
            <a:ext cx="2031900" cy="483900"/>
          </a:xfrm>
          <a:prstGeom prst="rect">
            <a:avLst/>
          </a:prstGeom>
          <a:solidFill>
            <a:srgbClr val="0F172A"/>
          </a:solidFill>
          <a:ln>
            <a:noFill/>
          </a:ln>
          <a:effectLst>
            <a:outerShdw blurRad="152400" rotWithShape="0" algn="bl" dir="5400000" dist="762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Logical Device</a:t>
            </a:r>
            <a:endParaRPr b="1" i="0" sz="1800" u="none" cap="none" strike="noStrike">
              <a:solidFill>
                <a:srgbClr val="38BDF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6"/>
          <p:cNvSpPr/>
          <p:nvPr/>
        </p:nvSpPr>
        <p:spPr>
          <a:xfrm>
            <a:off x="299075" y="2361825"/>
            <a:ext cx="2031900" cy="483900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152400" rotWithShape="0" algn="bl" dir="5400000" dist="762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Web-App</a:t>
            </a:r>
            <a:endParaRPr b="1" i="0" sz="1800" u="none" cap="none" strike="noStrike">
              <a:solidFill>
                <a:srgbClr val="38BDF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6" name="Google Shape;46;p6"/>
          <p:cNvCxnSpPr>
            <a:stCxn id="45" idx="3"/>
            <a:endCxn id="37" idx="1"/>
          </p:cNvCxnSpPr>
          <p:nvPr/>
        </p:nvCxnSpPr>
        <p:spPr>
          <a:xfrm>
            <a:off x="2330975" y="2603775"/>
            <a:ext cx="612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7" name="Google Shape;47;p6"/>
          <p:cNvCxnSpPr>
            <a:stCxn id="37" idx="3"/>
            <a:endCxn id="38" idx="1"/>
          </p:cNvCxnSpPr>
          <p:nvPr/>
        </p:nvCxnSpPr>
        <p:spPr>
          <a:xfrm>
            <a:off x="5432600" y="2603775"/>
            <a:ext cx="612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/>
          <p:nvPr/>
        </p:nvSpPr>
        <p:spPr>
          <a:xfrm>
            <a:off x="609600" y="609600"/>
            <a:ext cx="8083296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Pipeline-Typen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7"/>
          <p:cNvSpPr/>
          <p:nvPr/>
        </p:nvSpPr>
        <p:spPr>
          <a:xfrm>
            <a:off x="914400" y="1247775"/>
            <a:ext cx="76200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240000"/>
              </a:lnSpc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Render-Pipeline</a:t>
            </a:r>
            <a:endParaRPr b="1" sz="1350">
              <a:solidFill>
                <a:srgbClr val="38BDF8"/>
              </a:solidFill>
            </a:endParaRPr>
          </a:p>
          <a:p>
            <a:pPr indent="-314325" lvl="0" marL="457200" rtl="0" algn="l">
              <a:lnSpc>
                <a:spcPct val="240000"/>
              </a:lnSpc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350"/>
              <a:buChar char="●"/>
            </a:pPr>
            <a:r>
              <a:rPr lang="en-US" sz="1350">
                <a:solidFill>
                  <a:srgbClr val="CBD5E1"/>
                </a:solidFill>
              </a:rPr>
              <a:t>Vertex → Rasterisierung → Fragment → Ausgabe</a:t>
            </a:r>
            <a:endParaRPr b="1" sz="1350">
              <a:solidFill>
                <a:srgbClr val="38BDF8"/>
              </a:solidFill>
            </a:endParaRPr>
          </a:p>
          <a:p>
            <a:pPr indent="0" lvl="0" marL="0" marR="0" rtl="0" algn="l">
              <a:lnSpc>
                <a:spcPct val="240000"/>
              </a:lnSpc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Compute-Pipeline</a:t>
            </a:r>
            <a:endParaRPr b="1" i="0" sz="1350" u="none" cap="none" strike="noStrike">
              <a:solidFill>
                <a:srgbClr val="38BDF8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4325" lvl="0" marL="457200" marR="0" rtl="0" algn="l">
              <a:lnSpc>
                <a:spcPct val="240000"/>
              </a:lnSpc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1350"/>
              <a:buChar char="●"/>
            </a:pPr>
            <a:r>
              <a:rPr lang="en-US" sz="1350">
                <a:solidFill>
                  <a:srgbClr val="CBD5E1"/>
                </a:solidFill>
              </a:rPr>
              <a:t>Compute Stage</a:t>
            </a:r>
            <a:endParaRPr sz="1350">
              <a:solidFill>
                <a:srgbClr val="CBD5E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609600" y="609600"/>
            <a:ext cx="8083296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Vertex-Shader Beispiel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9600" y="1137000"/>
            <a:ext cx="4136350" cy="3819523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62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98350" y="1171575"/>
            <a:ext cx="4093249" cy="19509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/>
          <p:nvPr/>
        </p:nvSpPr>
        <p:spPr>
          <a:xfrm>
            <a:off x="609600" y="609600"/>
            <a:ext cx="8083296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Fragment-Shader Beispiel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9" name="Google Shape;69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9600" y="1171575"/>
            <a:ext cx="6308849" cy="3645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20617"/>
        </a:soli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3882049" y="1890713"/>
            <a:ext cx="1379753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38BDF8"/>
                </a:solidFill>
                <a:latin typeface="Arial"/>
                <a:ea typeface="Arial"/>
                <a:cs typeface="Arial"/>
                <a:sym typeface="Arial"/>
              </a:rPr>
              <a:t>Fragen?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10"/>
          <p:cNvSpPr/>
          <p:nvPr/>
        </p:nvSpPr>
        <p:spPr>
          <a:xfrm>
            <a:off x="3371530" y="2528888"/>
            <a:ext cx="2400791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86666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1"/>
          <p:cNvSpPr/>
          <p:nvPr/>
        </p:nvSpPr>
        <p:spPr>
          <a:xfrm>
            <a:off x="609600" y="609600"/>
            <a:ext cx="8083200" cy="40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38BDF8"/>
              </a:buClr>
              <a:buSzPts val="2700"/>
              <a:buFont typeface="Arial"/>
              <a:buNone/>
            </a:pPr>
            <a:r>
              <a:rPr b="1" lang="en-US" sz="2700">
                <a:solidFill>
                  <a:srgbClr val="38BDF8"/>
                </a:solidFill>
              </a:rPr>
              <a:t>Quellen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11"/>
          <p:cNvSpPr txBox="1"/>
          <p:nvPr/>
        </p:nvSpPr>
        <p:spPr>
          <a:xfrm>
            <a:off x="563100" y="1368350"/>
            <a:ext cx="7486200" cy="306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86666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350"/>
              <a:buFont typeface="Arial"/>
              <a:buNone/>
            </a:pPr>
            <a:r>
              <a:rPr lang="en-US" sz="1200">
                <a:solidFill>
                  <a:srgbClr val="CBD5E1"/>
                </a:solidFill>
              </a:rPr>
              <a:t>W3C Spec: w3.org/TR/webgpu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CBD5E1"/>
                </a:solidFill>
              </a:rPr>
              <a:t>https://developer.mozilla.org/en-US/docs/Web/API/WebGPU_API</a:t>
            </a:r>
            <a:endParaRPr sz="1500">
              <a:solidFill>
                <a:srgbClr val="CBD5E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